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c83b48f5b4efa" /><Relationship Type="http://schemas.openxmlformats.org/officeDocument/2006/relationships/extended-properties" Target="/docProps/app.xml" Id="R92efd8766ec2424a" /><Relationship Type="http://schemas.openxmlformats.org/officeDocument/2006/relationships/officeDocument" Target="/ppt/presentation.xml" Id="Rac717ba6f9e3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4f64f661a489c"/>
  </p:sldMasterIdLst>
  <p:notesMasterIdLst>
    <p:notesMasterId xmlns:r="http://schemas.openxmlformats.org/officeDocument/2006/relationships" r:id="R43112ee3f2154142"/>
  </p:notesMasterIdLst>
  <p:sldIdLst>
    <p:sldId xmlns:r="http://schemas.openxmlformats.org/officeDocument/2006/relationships" id="256" r:id="R937d929fa14b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d3e1ec6fc482a" /><Relationship Type="http://schemas.openxmlformats.org/officeDocument/2006/relationships/slideMaster" Target="/ppt/slideMasters/slideMaster1.xml" Id="R1454f64f661a489c" /><Relationship Type="http://schemas.openxmlformats.org/officeDocument/2006/relationships/notesMaster" Target="/ppt/notesMasters/notesMaster1.xml" Id="R43112ee3f2154142" /><Relationship Type="http://schemas.openxmlformats.org/officeDocument/2006/relationships/presProps" Target="/ppt/presProps.xml" Id="R6c811994325d48ad" /><Relationship Type="http://schemas.openxmlformats.org/officeDocument/2006/relationships/tableStyles" Target="/ppt/tableStyles.xml" Id="Rd8f7adc8c2064c13" /><Relationship Type="http://schemas.openxmlformats.org/officeDocument/2006/relationships/slide" Target="/ppt/slides/slide1.xml" Id="R937d929fa14b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98bfd2605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50acb9cc8d47b7" /><Relationship Type="http://schemas.openxmlformats.org/officeDocument/2006/relationships/notesMaster" Target="/ppt/notesMasters/notesMaster1.xml" Id="R0ea7a8d9dced41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정분류 예시와 오분류 조건만 반영했다. 정확도, 인식률, 신뢰도 수치는 제공되지 않아 표시하지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25792dde141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4c66d3e294265" /><Relationship Type="http://schemas.openxmlformats.org/officeDocument/2006/relationships/slideLayout" Target="/ppt/slideLayouts/slideLayout1.xml" Id="R55c366e1511f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366e1511f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d271e02dc42d3" /><Relationship Type="http://schemas.openxmlformats.org/officeDocument/2006/relationships/notesSlide" Target="/ppt/notesSlides/notesSlide1.xml" Id="R803213102c5643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E2CBC-2529-4494-A001-34E6F6C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416CA-D0BC-4086-806E-4D3D46B5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2304A"/>
                </a:solidFill>
                <a:latin typeface="Noto Sans CJK KR"/>
                <a:ea typeface="Noto Sans CJK KR"/>
                <a:cs typeface="Noto Sans CJK KR"/>
              </a:rPr>
              <a:t>이미지 분류 결과 및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DE425-64E7-4070-A353-50E3F1C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1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>
                <a:solidFill>
                  <a:srgbClr val="516173"/>
                </a:solidFill>
                <a:latin typeface="Noto Sans CJK KR"/>
                <a:ea typeface="Noto Sans CJK KR"/>
                <a:cs typeface="Noto Sans CJK KR"/>
              </a:rPr>
              <a:t>정분류 예시는 확인했지만 실제 환경에서는 예측이 불안정했다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086600" cy="3105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2714625"/>
                <a:gridCol w="1847850"/>
              </a:tblGrid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물체</a:t>
                      </a:r>
                    </a:p>
                  </a:txBody>
                  <a:tcPr marL="152400" marR="152400" marT="95250" marB="95250" anchor="ctr">
                    <a:solidFill>
                      <a:srgbClr val="173B5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AI 예측 결과</a:t>
                      </a:r>
                    </a:p>
                  </a:txBody>
                  <a:tcPr marL="152400" marR="152400" marT="95250" marB="95250" anchor="ctr">
                    <a:solidFill>
                      <a:srgbClr val="173B5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판정</a:t>
                      </a:r>
                    </a:p>
                  </a:txBody>
                  <a:tcPr marL="152400" marR="152400" marT="95250" marB="95250" anchor="ctr">
                    <a:solidFill>
                      <a:srgbClr val="173B59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니퍼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니퍼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087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일치</a:t>
                      </a:r>
                    </a:p>
                  </a:txBody>
                  <a:tcPr marL="152400" marR="152400" marT="95250" marB="95250" anchor="ctr">
                    <a:solidFill>
                      <a:srgbClr val="E7F7F4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와이어 스트리퍼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와이어 스트리퍼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087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일치</a:t>
                      </a:r>
                    </a:p>
                  </a:txBody>
                  <a:tcPr marL="152400" marR="152400" marT="95250" marB="95250" anchor="ctr">
                    <a:solidFill>
                      <a:srgbClr val="E7F7F4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650">
                          <a:solidFill>
                            <a:srgbClr val="17233C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087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일치</a:t>
                      </a:r>
                    </a:p>
                  </a:txBody>
                  <a:tcPr marL="152400" marR="152400" marT="95250" marB="95250" anchor="ctr">
                    <a:solidFill>
                      <a:srgbClr val="E7F7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80BBC-99A2-4952-A338-435AA1E6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4861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9050">
            <a:solidFill>
              <a:srgbClr val="F08A6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166E8-F244-4A31-9B2A-E960172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4D2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B24D2A"/>
                </a:solidFill>
                <a:latin typeface="Noto Sans CJK KR"/>
                <a:ea typeface="Noto Sans CJK KR"/>
                <a:cs typeface="Noto Sans CJK KR"/>
              </a:rPr>
              <a:t>오분류 사례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919C2-90DD-4009-B49A-BE06881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4285A-C00A-4BCE-915B-7B0CF1A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819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25">
                <a:solidFill>
                  <a:srgbClr val="5D352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5D3528"/>
                </a:solidFill>
                <a:latin typeface="Noto Sans CJK KR"/>
                <a:ea typeface="Noto Sans CJK KR"/>
                <a:cs typeface="Noto Sans CJK KR"/>
              </a:rPr>
              <a:t>특정 각도, 배경 또는 조명 환경에서는 다른 물체로 잘못 분류되는 경우가 발생했다.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617FE-354E-49AF-B343-BD763340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4D2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B24D2A"/>
                </a:solidFill>
                <a:latin typeface="Noto Sans CJK KR"/>
                <a:ea typeface="Noto Sans CJK KR"/>
                <a:cs typeface="Noto Sans CJK KR"/>
              </a:rPr>
              <a:t>실제 사용 환경에서 추가 검증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EA6EC-1164-4FA1-B898-4701FB20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250CA-BD2E-4EA0-A745-4BAC4068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A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8A7A0"/>
                </a:solidFill>
                <a:latin typeface="Noto Sans CJK KR"/>
                <a:ea typeface="Noto Sans CJK KR"/>
                <a:cs typeface="Noto Sans CJK KR"/>
              </a:rPr>
              <a:t>결과 해석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374F6-6F67-4AA5-9646-D1A06CAB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911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B5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73B59"/>
                </a:solidFill>
                <a:latin typeface="Noto Sans CJK KR"/>
                <a:ea typeface="Noto Sans CJK KR"/>
                <a:cs typeface="Noto Sans CJK KR"/>
              </a:rPr>
              <a:t>위 표는 정분류 예시이며 전체 인식률 또는 예측 정확도를 의미하지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0F80A-A007-4567-B6D2-64F2352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05500"/>
            <a:ext cx="919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4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>
                <a:solidFill>
                  <a:srgbClr val="667487"/>
                </a:solidFill>
                <a:latin typeface="Noto Sans CJK KR"/>
                <a:ea typeface="Noto Sans CJK KR"/>
                <a:cs typeface="Noto Sans CJK KR"/>
              </a:rPr>
              <a:t>정확도를 제시하려면 클래스별 전체 테스트 건수와 정답·오답 수가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472815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2026-09-14T01:20:54.0670000Z</dcterms:created>
  <dcterms:modified xsi:type="dcterms:W3CDTF">2026-09-14T01:20:54.0670000Z</dcterms:modified>
</coreProperties>
</file>